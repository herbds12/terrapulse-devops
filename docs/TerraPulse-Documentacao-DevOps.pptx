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ed2732b-6238-b9b3-a979-fc5fdb1fa894}">
          <p14:sldIdLst>
            <p14:sldId id="256"/>
          </p14:sldIdLst>
        </p14:section>
        <p14:section name="Pipeline CI/CD" id="{24307f1b-032f-a36f-2ac7-8ee4ae90c49f}">
          <p14:sldIdLst>
            <p14:sldId id="257"/>
            <p14:sldId id="258"/>
            <p14:sldId id="259"/>
          </p14:sldIdLst>
        </p14:section>
        <p14:section name="Docker" id="{7daf9916-e52f-acc1-6fea-25c396f54dff}">
          <p14:sldIdLst>
            <p14:sldId id="260"/>
            <p14:sldId id="261"/>
          </p14:sldIdLst>
        </p14:section>
        <p14:section name="Evidências" id="{916f484b-c0ed-c57e-9aca-10f0aa823199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Encerramento" id="{9dbbe347-a830-e4a4-cb0d-d90c8aec1415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Capa: projeto TerraPulse (API ESG em .NET 8) com o ciclo DevOps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Arquitetura: GitHub Actions gera a imagem, publica no GHCR e o Azure App Service roda o container em dois ambientes, cada um com seu banco Azure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412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412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TerraPulse  ·  Desafio DevOps  ·  Herbert Dias de Souza  ·  RM 565128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TerraPulse  ·  Desafio DevOps  ·  Herbert Dias de Souza  ·  RM 565128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TerraPulse  ·  Desafio DevOps  ·  Herbert Dias de Souza  ·  RM 565128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pa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TerraPulse: Cidades ESG Inteligentes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Desafio DevOps · Fase 6: pipeline CI/CD, containerização e deploy em staging e produção</a:t>
            </a:r>
            <a:endParaRPr lang="en-US" sz="2000" dirty="0"/>
          </a:p>
        </p:txBody>
      </p:sp>
      <p:sp>
        <p:nvSpPr>
          <p:cNvPr id="5" name="capa-autor"/>
          <p:cNvSpPr txBox="1"/>
          <p:nvPr/>
        </p:nvSpPr>
        <p:spPr>
          <a:xfrm>
            <a:off x="548640" y="4983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Herbert Dias de Souza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RM 565128  ·  2TDS  ·  FIAP  ·  Outubro de 2026</a:t>
            </a:r>
            <a:endParaRPr lang="en-US" sz="1600" dirty="0"/>
          </a:p>
        </p:txBody>
      </p:sp>
      <p:sp>
        <p:nvSpPr>
          <p:cNvPr id="6" name="card-1"/>
          <p:cNvSpPr/>
          <p:nvPr/>
        </p:nvSpPr>
        <p:spPr>
          <a:xfrm>
            <a:off x="9281160" y="146304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hip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645920"/>
            <a:ext cx="365760" cy="365760"/>
          </a:xfrm>
          <a:prstGeom prst="rect">
            <a:avLst/>
          </a:prstGeom>
        </p:spPr>
      </p:pic>
      <p:sp>
        <p:nvSpPr>
          <p:cNvPr id="8" name="chip-3"/>
          <p:cNvSpPr txBox="1"/>
          <p:nvPr/>
        </p:nvSpPr>
        <p:spPr>
          <a:xfrm>
            <a:off x="996696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C# / .NET 8</a:t>
            </a:r>
            <a:endParaRPr lang="en-US" sz="1500" dirty="0"/>
          </a:p>
        </p:txBody>
      </p:sp>
      <p:sp>
        <p:nvSpPr>
          <p:cNvPr id="9" name="card-4"/>
          <p:cNvSpPr/>
          <p:nvPr/>
        </p:nvSpPr>
        <p:spPr>
          <a:xfrm>
            <a:off x="9281160" y="242316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hip-icon-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606040"/>
            <a:ext cx="365760" cy="365760"/>
          </a:xfrm>
          <a:prstGeom prst="rect">
            <a:avLst/>
          </a:prstGeom>
        </p:spPr>
      </p:pic>
      <p:sp>
        <p:nvSpPr>
          <p:cNvPr id="11" name="chip-6"/>
          <p:cNvSpPr txBox="1"/>
          <p:nvPr/>
        </p:nvSpPr>
        <p:spPr>
          <a:xfrm>
            <a:off x="9966960" y="2423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Docker</a:t>
            </a:r>
            <a:endParaRPr lang="en-US" sz="1500" dirty="0"/>
          </a:p>
        </p:txBody>
      </p:sp>
      <p:sp>
        <p:nvSpPr>
          <p:cNvPr id="12" name="card-7"/>
          <p:cNvSpPr/>
          <p:nvPr/>
        </p:nvSpPr>
        <p:spPr>
          <a:xfrm>
            <a:off x="9281160" y="338328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chip-icon-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3566160"/>
            <a:ext cx="365760" cy="365760"/>
          </a:xfrm>
          <a:prstGeom prst="rect">
            <a:avLst/>
          </a:prstGeom>
        </p:spPr>
      </p:pic>
      <p:sp>
        <p:nvSpPr>
          <p:cNvPr id="14" name="chip-9"/>
          <p:cNvSpPr txBox="1"/>
          <p:nvPr/>
        </p:nvSpPr>
        <p:spPr>
          <a:xfrm>
            <a:off x="9966960" y="3383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GitHub Actions</a:t>
            </a:r>
            <a:endParaRPr lang="en-US" sz="1500" dirty="0"/>
          </a:p>
        </p:txBody>
      </p:sp>
      <p:sp>
        <p:nvSpPr>
          <p:cNvPr id="15" name="card-10"/>
          <p:cNvSpPr/>
          <p:nvPr/>
        </p:nvSpPr>
        <p:spPr>
          <a:xfrm>
            <a:off x="9281160" y="434340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hip-icon-1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4526280"/>
            <a:ext cx="365760" cy="365760"/>
          </a:xfrm>
          <a:prstGeom prst="rect">
            <a:avLst/>
          </a:prstGeom>
        </p:spPr>
      </p:pic>
      <p:sp>
        <p:nvSpPr>
          <p:cNvPr id="17" name="chip-12"/>
          <p:cNvSpPr txBox="1"/>
          <p:nvPr/>
        </p:nvSpPr>
        <p:spPr>
          <a:xfrm>
            <a:off x="9966960" y="4343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Azure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Visão geral: do commit ao ambiente na nuvem</a:t>
            </a:r>
            <a:endParaRPr lang="en-US" sz="3200" dirty="0"/>
          </a:p>
        </p:txBody>
      </p:sp>
      <p:sp>
        <p:nvSpPr>
          <p:cNvPr id="3" name="card-13"/>
          <p:cNvSpPr/>
          <p:nvPr/>
        </p:nvSpPr>
        <p:spPr>
          <a:xfrm>
            <a:off x="548640" y="2606040"/>
            <a:ext cx="21031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14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con-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2909621"/>
            <a:ext cx="307238" cy="307238"/>
          </a:xfrm>
          <a:prstGeom prst="rect">
            <a:avLst/>
          </a:prstGeom>
        </p:spPr>
      </p:pic>
      <p:sp>
        <p:nvSpPr>
          <p:cNvPr id="6" name="node-t-16"/>
          <p:cNvSpPr txBox="1"/>
          <p:nvPr/>
        </p:nvSpPr>
        <p:spPr>
          <a:xfrm>
            <a:off x="73152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Desenvolvedor</a:t>
            </a:r>
            <a:endParaRPr lang="en-US" sz="1600" dirty="0"/>
          </a:p>
        </p:txBody>
      </p:sp>
      <p:sp>
        <p:nvSpPr>
          <p:cNvPr id="7" name="node-d-17"/>
          <p:cNvSpPr txBox="1"/>
          <p:nvPr/>
        </p:nvSpPr>
        <p:spPr>
          <a:xfrm>
            <a:off x="731520" y="3721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git push em develop / main</a:t>
            </a:r>
            <a:endParaRPr lang="en-US" sz="1100" dirty="0"/>
          </a:p>
        </p:txBody>
      </p:sp>
      <p:sp>
        <p:nvSpPr>
          <p:cNvPr id="8" name="card-18"/>
          <p:cNvSpPr/>
          <p:nvPr/>
        </p:nvSpPr>
        <p:spPr>
          <a:xfrm>
            <a:off x="2971800" y="2606040"/>
            <a:ext cx="21031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19"/>
          <p:cNvSpPr/>
          <p:nvPr/>
        </p:nvSpPr>
        <p:spPr>
          <a:xfrm>
            <a:off x="3154680" y="2788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2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381" y="2909621"/>
            <a:ext cx="307238" cy="307238"/>
          </a:xfrm>
          <a:prstGeom prst="rect">
            <a:avLst/>
          </a:prstGeom>
        </p:spPr>
      </p:pic>
      <p:sp>
        <p:nvSpPr>
          <p:cNvPr id="11" name="node-t-21"/>
          <p:cNvSpPr txBox="1"/>
          <p:nvPr/>
        </p:nvSpPr>
        <p:spPr>
          <a:xfrm>
            <a:off x="315468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GitHub Actions</a:t>
            </a:r>
            <a:endParaRPr lang="en-US" sz="1600" dirty="0"/>
          </a:p>
        </p:txBody>
      </p:sp>
      <p:sp>
        <p:nvSpPr>
          <p:cNvPr id="12" name="node-d-22"/>
          <p:cNvSpPr txBox="1"/>
          <p:nvPr/>
        </p:nvSpPr>
        <p:spPr>
          <a:xfrm>
            <a:off x="3154680" y="3721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Build · Testes · Imagem</a:t>
            </a:r>
            <a:endParaRPr lang="en-US" sz="1100" dirty="0"/>
          </a:p>
        </p:txBody>
      </p:sp>
      <p:sp>
        <p:nvSpPr>
          <p:cNvPr id="13" name="card-23"/>
          <p:cNvSpPr/>
          <p:nvPr/>
        </p:nvSpPr>
        <p:spPr>
          <a:xfrm>
            <a:off x="5394960" y="2606040"/>
            <a:ext cx="21031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24"/>
          <p:cNvSpPr/>
          <p:nvPr/>
        </p:nvSpPr>
        <p:spPr>
          <a:xfrm>
            <a:off x="5577840" y="27889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-2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541" y="2909621"/>
            <a:ext cx="307238" cy="307238"/>
          </a:xfrm>
          <a:prstGeom prst="rect">
            <a:avLst/>
          </a:prstGeom>
        </p:spPr>
      </p:pic>
      <p:sp>
        <p:nvSpPr>
          <p:cNvPr id="16" name="node-t-26"/>
          <p:cNvSpPr txBox="1"/>
          <p:nvPr/>
        </p:nvSpPr>
        <p:spPr>
          <a:xfrm>
            <a:off x="557784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GHCR</a:t>
            </a:r>
            <a:endParaRPr lang="en-US" sz="1600" dirty="0"/>
          </a:p>
        </p:txBody>
      </p:sp>
      <p:sp>
        <p:nvSpPr>
          <p:cNvPr id="17" name="node-d-27"/>
          <p:cNvSpPr txBox="1"/>
          <p:nvPr/>
        </p:nvSpPr>
        <p:spPr>
          <a:xfrm>
            <a:off x="5577840" y="3721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ghcr.io/herbds12/terrapulse-api:&lt;sha&gt;</a:t>
            </a:r>
            <a:endParaRPr lang="en-US" sz="1100" dirty="0"/>
          </a:p>
        </p:txBody>
      </p:sp>
      <p:sp>
        <p:nvSpPr>
          <p:cNvPr id="18" name="arrow-28"/>
          <p:cNvSpPr/>
          <p:nvPr/>
        </p:nvSpPr>
        <p:spPr>
          <a:xfrm>
            <a:off x="2651760" y="3406140"/>
            <a:ext cx="320040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arrow-29"/>
          <p:cNvSpPr/>
          <p:nvPr/>
        </p:nvSpPr>
        <p:spPr>
          <a:xfrm>
            <a:off x="5074920" y="3406140"/>
            <a:ext cx="320040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card-30"/>
          <p:cNvSpPr/>
          <p:nvPr/>
        </p:nvSpPr>
        <p:spPr>
          <a:xfrm>
            <a:off x="8275320" y="1325880"/>
            <a:ext cx="33832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-bg-31"/>
          <p:cNvSpPr/>
          <p:nvPr/>
        </p:nvSpPr>
        <p:spPr>
          <a:xfrm>
            <a:off x="845820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-3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901" y="1629461"/>
            <a:ext cx="307238" cy="307238"/>
          </a:xfrm>
          <a:prstGeom prst="rect">
            <a:avLst/>
          </a:prstGeom>
        </p:spPr>
      </p:pic>
      <p:sp>
        <p:nvSpPr>
          <p:cNvPr id="23" name="env-t-33"/>
          <p:cNvSpPr txBox="1"/>
          <p:nvPr/>
        </p:nvSpPr>
        <p:spPr>
          <a:xfrm>
            <a:off x="914400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Web App Staging</a:t>
            </a:r>
            <a:endParaRPr lang="en-US" sz="1600" dirty="0"/>
          </a:p>
        </p:txBody>
      </p:sp>
      <p:sp>
        <p:nvSpPr>
          <p:cNvPr id="24" name="env-d-34"/>
          <p:cNvSpPr txBox="1"/>
          <p:nvPr/>
        </p:nvSpPr>
        <p:spPr>
          <a:xfrm>
            <a:off x="914400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branch develop · deploy automático</a:t>
            </a:r>
            <a:endParaRPr lang="en-US" sz="1100" dirty="0"/>
          </a:p>
        </p:txBody>
      </p:sp>
      <p:sp>
        <p:nvSpPr>
          <p:cNvPr id="25" name="db-box-35"/>
          <p:cNvSpPr/>
          <p:nvPr/>
        </p:nvSpPr>
        <p:spPr>
          <a:xfrm>
            <a:off x="8458200" y="2377440"/>
            <a:ext cx="30175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6" name="icon-bg-36"/>
          <p:cNvSpPr/>
          <p:nvPr/>
        </p:nvSpPr>
        <p:spPr>
          <a:xfrm>
            <a:off x="8549640" y="2468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con-3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2569464"/>
            <a:ext cx="256032" cy="256032"/>
          </a:xfrm>
          <a:prstGeom prst="rect">
            <a:avLst/>
          </a:prstGeom>
        </p:spPr>
      </p:pic>
      <p:sp>
        <p:nvSpPr>
          <p:cNvPr id="28" name="db-t-38"/>
          <p:cNvSpPr txBox="1"/>
          <p:nvPr/>
        </p:nvSpPr>
        <p:spPr>
          <a:xfrm>
            <a:off x="909828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Azure SQL · terrapulse-staging</a:t>
            </a:r>
            <a:endParaRPr lang="en-US" sz="1200" dirty="0"/>
          </a:p>
        </p:txBody>
      </p:sp>
      <p:sp>
        <p:nvSpPr>
          <p:cNvPr id="29" name="card-39"/>
          <p:cNvSpPr/>
          <p:nvPr/>
        </p:nvSpPr>
        <p:spPr>
          <a:xfrm>
            <a:off x="8275320" y="3977640"/>
            <a:ext cx="33832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-bg-40"/>
          <p:cNvSpPr/>
          <p:nvPr/>
        </p:nvSpPr>
        <p:spPr>
          <a:xfrm>
            <a:off x="8458200" y="4160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1" name="icon-4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8901" y="4281221"/>
            <a:ext cx="307238" cy="307238"/>
          </a:xfrm>
          <a:prstGeom prst="rect">
            <a:avLst/>
          </a:prstGeom>
        </p:spPr>
      </p:pic>
      <p:sp>
        <p:nvSpPr>
          <p:cNvPr id="32" name="env-t-42"/>
          <p:cNvSpPr txBox="1"/>
          <p:nvPr/>
        </p:nvSpPr>
        <p:spPr>
          <a:xfrm>
            <a:off x="9144000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Web App Produção</a:t>
            </a:r>
            <a:endParaRPr lang="en-US" sz="1600" dirty="0"/>
          </a:p>
        </p:txBody>
      </p:sp>
      <p:sp>
        <p:nvSpPr>
          <p:cNvPr id="33" name="env-d-43"/>
          <p:cNvSpPr txBox="1"/>
          <p:nvPr/>
        </p:nvSpPr>
        <p:spPr>
          <a:xfrm>
            <a:off x="9144000" y="4480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branch main · aprovação manual</a:t>
            </a:r>
            <a:endParaRPr lang="en-US" sz="1100" dirty="0"/>
          </a:p>
        </p:txBody>
      </p:sp>
      <p:sp>
        <p:nvSpPr>
          <p:cNvPr id="34" name="db-box-44"/>
          <p:cNvSpPr/>
          <p:nvPr/>
        </p:nvSpPr>
        <p:spPr>
          <a:xfrm>
            <a:off x="8458200" y="5029200"/>
            <a:ext cx="30175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5" name="icon-bg-45"/>
          <p:cNvSpPr/>
          <p:nvPr/>
        </p:nvSpPr>
        <p:spPr>
          <a:xfrm>
            <a:off x="8549640" y="51206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6" name="icon-4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0224" y="5221224"/>
            <a:ext cx="256032" cy="256032"/>
          </a:xfrm>
          <a:prstGeom prst="rect">
            <a:avLst/>
          </a:prstGeom>
        </p:spPr>
      </p:pic>
      <p:sp>
        <p:nvSpPr>
          <p:cNvPr id="37" name="db-t-47"/>
          <p:cNvSpPr txBox="1"/>
          <p:nvPr/>
        </p:nvSpPr>
        <p:spPr>
          <a:xfrm>
            <a:off x="9098280" y="5029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Azure SQL · terrapulse-production</a:t>
            </a:r>
            <a:endParaRPr lang="en-US" sz="1200" dirty="0"/>
          </a:p>
        </p:txBody>
      </p:sp>
      <p:sp>
        <p:nvSpPr>
          <p:cNvPr id="38" name="arrow-48"/>
          <p:cNvSpPr/>
          <p:nvPr/>
        </p:nvSpPr>
        <p:spPr>
          <a:xfrm flipV="1">
            <a:off x="7498080" y="2286000"/>
            <a:ext cx="777240" cy="77724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9" name="arrow-49"/>
          <p:cNvSpPr/>
          <p:nvPr/>
        </p:nvSpPr>
        <p:spPr>
          <a:xfrm>
            <a:off x="7498080" y="3749040"/>
            <a:ext cx="777240" cy="118872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0" name="arq-nota"/>
          <p:cNvSpPr txBox="1"/>
          <p:nvPr/>
        </p:nvSpPr>
        <p:spPr>
          <a:xfrm>
            <a:off x="548640" y="54406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Região: Chile Central (permitida pela assinatura Azure for Students). O smoke test em /health confirma o SHA publicado em cada ambiente.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Pipeline: ferramenta e etapas</a:t>
            </a:r>
            <a:endParaRPr lang="en-US" sz="3200" dirty="0"/>
          </a:p>
        </p:txBody>
      </p:sp>
      <p:sp>
        <p:nvSpPr>
          <p:cNvPr id="3" name="etapas-ferramenta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Ferramenta: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GitHub Actions  ·  arquivo .github/workflows/ci-cd.yml  ·  runners ubuntu-latest</a:t>
            </a:r>
            <a:endParaRPr lang="en-US" sz="1500" dirty="0"/>
          </a:p>
        </p:txBody>
      </p:sp>
      <p:sp>
        <p:nvSpPr>
          <p:cNvPr id="4" name="card-50"/>
          <p:cNvSpPr/>
          <p:nvPr/>
        </p:nvSpPr>
        <p:spPr>
          <a:xfrm>
            <a:off x="548640" y="1828800"/>
            <a:ext cx="2103120" cy="32918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-bg-51"/>
          <p:cNvSpPr/>
          <p:nvPr/>
        </p:nvSpPr>
        <p:spPr>
          <a:xfrm>
            <a:off x="73152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2198218"/>
            <a:ext cx="358445" cy="358445"/>
          </a:xfrm>
          <a:prstGeom prst="rect">
            <a:avLst/>
          </a:prstGeom>
        </p:spPr>
      </p:pic>
      <p:sp>
        <p:nvSpPr>
          <p:cNvPr id="7" name="step-n-53"/>
          <p:cNvSpPr txBox="1"/>
          <p:nvPr/>
        </p:nvSpPr>
        <p:spPr>
          <a:xfrm>
            <a:off x="201168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step-t-54"/>
          <p:cNvSpPr txBox="1"/>
          <p:nvPr/>
        </p:nvSpPr>
        <p:spPr>
          <a:xfrm>
            <a:off x="73152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Build</a:t>
            </a:r>
            <a:endParaRPr lang="en-US" sz="1800" dirty="0"/>
          </a:p>
        </p:txBody>
      </p:sp>
      <p:sp>
        <p:nvSpPr>
          <p:cNvPr id="9" name="step-d-55"/>
          <p:cNvSpPr txBox="1"/>
          <p:nvPr/>
        </p:nvSpPr>
        <p:spPr>
          <a:xfrm>
            <a:off x="731520" y="333756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setup-dotnet 8 · dotnet restore · dotnet build -c Release da solução (API + testes)</a:t>
            </a:r>
            <a:endParaRPr lang="en-US" sz="1300" dirty="0"/>
          </a:p>
        </p:txBody>
      </p:sp>
      <p:sp>
        <p:nvSpPr>
          <p:cNvPr id="10" name="card-56"/>
          <p:cNvSpPr/>
          <p:nvPr/>
        </p:nvSpPr>
        <p:spPr>
          <a:xfrm>
            <a:off x="2788920" y="1828800"/>
            <a:ext cx="2103120" cy="32918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bg-57"/>
          <p:cNvSpPr/>
          <p:nvPr/>
        </p:nvSpPr>
        <p:spPr>
          <a:xfrm>
            <a:off x="297180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5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618" y="2198218"/>
            <a:ext cx="358445" cy="358445"/>
          </a:xfrm>
          <a:prstGeom prst="rect">
            <a:avLst/>
          </a:prstGeom>
        </p:spPr>
      </p:pic>
      <p:sp>
        <p:nvSpPr>
          <p:cNvPr id="13" name="step-n-59"/>
          <p:cNvSpPr txBox="1"/>
          <p:nvPr/>
        </p:nvSpPr>
        <p:spPr>
          <a:xfrm>
            <a:off x="425196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2</a:t>
            </a:r>
            <a:endParaRPr lang="en-US" sz="2800" dirty="0"/>
          </a:p>
        </p:txBody>
      </p:sp>
      <p:sp>
        <p:nvSpPr>
          <p:cNvPr id="14" name="step-t-60"/>
          <p:cNvSpPr txBox="1"/>
          <p:nvPr/>
        </p:nvSpPr>
        <p:spPr>
          <a:xfrm>
            <a:off x="297180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Testes</a:t>
            </a:r>
            <a:endParaRPr lang="en-US" sz="1800" dirty="0"/>
          </a:p>
        </p:txBody>
      </p:sp>
      <p:sp>
        <p:nvSpPr>
          <p:cNvPr id="15" name="step-d-61"/>
          <p:cNvSpPr txBox="1"/>
          <p:nvPr/>
        </p:nvSpPr>
        <p:spPr>
          <a:xfrm>
            <a:off x="2971800" y="333756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 Server 2022 como service container · 6 testes xUnit de integração · relatório .trx</a:t>
            </a:r>
            <a:endParaRPr lang="en-US" sz="1300" dirty="0"/>
          </a:p>
        </p:txBody>
      </p:sp>
      <p:sp>
        <p:nvSpPr>
          <p:cNvPr id="16" name="card-62"/>
          <p:cNvSpPr/>
          <p:nvPr/>
        </p:nvSpPr>
        <p:spPr>
          <a:xfrm>
            <a:off x="5029200" y="1828800"/>
            <a:ext cx="2103120" cy="32918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-bg-63"/>
          <p:cNvSpPr/>
          <p:nvPr/>
        </p:nvSpPr>
        <p:spPr>
          <a:xfrm>
            <a:off x="5212080" y="20574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on-6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898" y="2198218"/>
            <a:ext cx="358445" cy="358445"/>
          </a:xfrm>
          <a:prstGeom prst="rect">
            <a:avLst/>
          </a:prstGeom>
        </p:spPr>
      </p:pic>
      <p:sp>
        <p:nvSpPr>
          <p:cNvPr id="19" name="step-n-65"/>
          <p:cNvSpPr txBox="1"/>
          <p:nvPr/>
        </p:nvSpPr>
        <p:spPr>
          <a:xfrm>
            <a:off x="649224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3</a:t>
            </a:r>
            <a:endParaRPr lang="en-US" sz="2800" dirty="0"/>
          </a:p>
        </p:txBody>
      </p:sp>
      <p:sp>
        <p:nvSpPr>
          <p:cNvPr id="20" name="step-t-66"/>
          <p:cNvSpPr txBox="1"/>
          <p:nvPr/>
        </p:nvSpPr>
        <p:spPr>
          <a:xfrm>
            <a:off x="52120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Imagem Docker</a:t>
            </a:r>
            <a:endParaRPr lang="en-US" sz="1800" dirty="0"/>
          </a:p>
        </p:txBody>
      </p:sp>
      <p:sp>
        <p:nvSpPr>
          <p:cNvPr id="21" name="step-d-67"/>
          <p:cNvSpPr txBox="1"/>
          <p:nvPr/>
        </p:nvSpPr>
        <p:spPr>
          <a:xfrm>
            <a:off x="5212080" y="333756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build-push-action com cache · push no GHCR com tags &lt;sha&gt; e staging/production</a:t>
            </a:r>
            <a:endParaRPr lang="en-US" sz="1300" dirty="0"/>
          </a:p>
        </p:txBody>
      </p:sp>
      <p:sp>
        <p:nvSpPr>
          <p:cNvPr id="22" name="card-68"/>
          <p:cNvSpPr/>
          <p:nvPr/>
        </p:nvSpPr>
        <p:spPr>
          <a:xfrm>
            <a:off x="7269480" y="1828800"/>
            <a:ext cx="2103120" cy="32918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-bg-69"/>
          <p:cNvSpPr/>
          <p:nvPr/>
        </p:nvSpPr>
        <p:spPr>
          <a:xfrm>
            <a:off x="7452360" y="20574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con-7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178" y="2198218"/>
            <a:ext cx="358445" cy="358445"/>
          </a:xfrm>
          <a:prstGeom prst="rect">
            <a:avLst/>
          </a:prstGeom>
        </p:spPr>
      </p:pic>
      <p:sp>
        <p:nvSpPr>
          <p:cNvPr id="25" name="step-n-71"/>
          <p:cNvSpPr txBox="1"/>
          <p:nvPr/>
        </p:nvSpPr>
        <p:spPr>
          <a:xfrm>
            <a:off x="873252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4</a:t>
            </a:r>
            <a:endParaRPr lang="en-US" sz="2800" dirty="0"/>
          </a:p>
        </p:txBody>
      </p:sp>
      <p:sp>
        <p:nvSpPr>
          <p:cNvPr id="26" name="step-t-72"/>
          <p:cNvSpPr txBox="1"/>
          <p:nvPr/>
        </p:nvSpPr>
        <p:spPr>
          <a:xfrm>
            <a:off x="745236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Deploy</a:t>
            </a:r>
            <a:endParaRPr lang="en-US" sz="1800" dirty="0"/>
          </a:p>
        </p:txBody>
      </p:sp>
      <p:sp>
        <p:nvSpPr>
          <p:cNvPr id="27" name="step-d-73"/>
          <p:cNvSpPr txBox="1"/>
          <p:nvPr/>
        </p:nvSpPr>
        <p:spPr>
          <a:xfrm>
            <a:off x="7452360" y="333756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azure/webapps-deploy com publish profile (secret) · troca a imagem do Web App</a:t>
            </a:r>
            <a:endParaRPr lang="en-US" sz="1300" dirty="0"/>
          </a:p>
        </p:txBody>
      </p:sp>
      <p:sp>
        <p:nvSpPr>
          <p:cNvPr id="28" name="card-74"/>
          <p:cNvSpPr/>
          <p:nvPr/>
        </p:nvSpPr>
        <p:spPr>
          <a:xfrm>
            <a:off x="9509760" y="1828800"/>
            <a:ext cx="2103120" cy="32918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-bg-75"/>
          <p:cNvSpPr/>
          <p:nvPr/>
        </p:nvSpPr>
        <p:spPr>
          <a:xfrm>
            <a:off x="9692640" y="205740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con-7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3458" y="2198218"/>
            <a:ext cx="358445" cy="358445"/>
          </a:xfrm>
          <a:prstGeom prst="rect">
            <a:avLst/>
          </a:prstGeom>
        </p:spPr>
      </p:pic>
      <p:sp>
        <p:nvSpPr>
          <p:cNvPr id="31" name="step-n-77"/>
          <p:cNvSpPr txBox="1"/>
          <p:nvPr/>
        </p:nvSpPr>
        <p:spPr>
          <a:xfrm>
            <a:off x="1097280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5</a:t>
            </a:r>
            <a:endParaRPr lang="en-US" sz="2800" dirty="0"/>
          </a:p>
        </p:txBody>
      </p:sp>
      <p:sp>
        <p:nvSpPr>
          <p:cNvPr id="32" name="step-t-78"/>
          <p:cNvSpPr txBox="1"/>
          <p:nvPr/>
        </p:nvSpPr>
        <p:spPr>
          <a:xfrm>
            <a:off x="969264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Smoke test</a:t>
            </a:r>
            <a:endParaRPr lang="en-US" sz="1800" dirty="0"/>
          </a:p>
        </p:txBody>
      </p:sp>
      <p:sp>
        <p:nvSpPr>
          <p:cNvPr id="33" name="step-d-79"/>
          <p:cNvSpPr txBox="1"/>
          <p:nvPr/>
        </p:nvSpPr>
        <p:spPr>
          <a:xfrm>
            <a:off x="9692640" y="333756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consulta /health até responder Healthy com o SHA do commit publicado</a:t>
            </a:r>
            <a:endParaRPr lang="en-US" sz="1300" dirty="0"/>
          </a:p>
        </p:txBody>
      </p:sp>
      <p:sp>
        <p:nvSpPr>
          <p:cNvPr id="34" name="etapas-pr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Pull requests executam só as etapas 1 e 2 e bloqueiam o merge se algo falhar.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Lógica do pipeline: branches, ambientes e segredos</a:t>
            </a:r>
            <a:endParaRPr lang="en-US" sz="3200" dirty="0"/>
          </a:p>
        </p:txBody>
      </p:sp>
      <p:graphicFrame>
        <p:nvGraphicFramePr>
          <p:cNvPr id="5" name="tabela-logic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1737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Evento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Etapas executadas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Ambiente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Pull request → develop / main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Build → Testes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nenhum (gate de qualidade)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Push em develop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Build → Testes → Imagem → Deploy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Staging (automático)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Push em main / workflow_dispatch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Build → Testes → Imagem → Aprovação → Deploy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Produção (required reviewer)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icon-bg-80"/>
          <p:cNvSpPr/>
          <p:nvPr/>
        </p:nvSpPr>
        <p:spPr>
          <a:xfrm>
            <a:off x="7680960" y="13258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con-8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1661" y="1446581"/>
            <a:ext cx="307238" cy="307238"/>
          </a:xfrm>
          <a:prstGeom prst="rect">
            <a:avLst/>
          </a:prstGeom>
        </p:spPr>
      </p:pic>
      <p:sp>
        <p:nvSpPr>
          <p:cNvPr id="6" name="logic-t-82"/>
          <p:cNvSpPr txBox="1"/>
          <p:nvPr/>
        </p:nvSpPr>
        <p:spPr>
          <a:xfrm>
            <a:off x="84124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GitHub Environments</a:t>
            </a:r>
            <a:endParaRPr lang="en-US" sz="1500" dirty="0"/>
          </a:p>
        </p:txBody>
      </p:sp>
      <p:sp>
        <p:nvSpPr>
          <p:cNvPr id="7" name="logic-d-83"/>
          <p:cNvSpPr txBox="1"/>
          <p:nvPr/>
        </p:nvSpPr>
        <p:spPr>
          <a:xfrm>
            <a:off x="8412480" y="160934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staging e production; produção exige aprovação manual antes do deploy</a:t>
            </a:r>
            <a:endParaRPr lang="en-US" sz="1200" dirty="0"/>
          </a:p>
        </p:txBody>
      </p:sp>
      <p:sp>
        <p:nvSpPr>
          <p:cNvPr id="8" name="icon-bg-84"/>
          <p:cNvSpPr/>
          <p:nvPr/>
        </p:nvSpPr>
        <p:spPr>
          <a:xfrm>
            <a:off x="7680960" y="24231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-8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661" y="2543861"/>
            <a:ext cx="307238" cy="307238"/>
          </a:xfrm>
          <a:prstGeom prst="rect">
            <a:avLst/>
          </a:prstGeom>
        </p:spPr>
      </p:pic>
      <p:sp>
        <p:nvSpPr>
          <p:cNvPr id="10" name="logic-t-86"/>
          <p:cNvSpPr txBox="1"/>
          <p:nvPr/>
        </p:nvSpPr>
        <p:spPr>
          <a:xfrm>
            <a:off x="841248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Secrets e Variables</a:t>
            </a:r>
            <a:endParaRPr lang="en-US" sz="1500" dirty="0"/>
          </a:p>
        </p:txBody>
      </p:sp>
      <p:sp>
        <p:nvSpPr>
          <p:cNvPr id="11" name="logic-d-87"/>
          <p:cNvSpPr txBox="1"/>
          <p:nvPr/>
        </p:nvSpPr>
        <p:spPr>
          <a:xfrm>
            <a:off x="8412480" y="270662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publish profiles como secrets; nomes dos Web Apps como variables</a:t>
            </a:r>
            <a:endParaRPr lang="en-US" sz="1200" dirty="0"/>
          </a:p>
        </p:txBody>
      </p:sp>
      <p:sp>
        <p:nvSpPr>
          <p:cNvPr id="12" name="icon-bg-88"/>
          <p:cNvSpPr/>
          <p:nvPr/>
        </p:nvSpPr>
        <p:spPr>
          <a:xfrm>
            <a:off x="7680960" y="35204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-8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661" y="3641141"/>
            <a:ext cx="307238" cy="307238"/>
          </a:xfrm>
          <a:prstGeom prst="rect">
            <a:avLst/>
          </a:prstGeom>
        </p:spPr>
      </p:pic>
      <p:sp>
        <p:nvSpPr>
          <p:cNvPr id="14" name="logic-t-90"/>
          <p:cNvSpPr txBox="1"/>
          <p:nvPr/>
        </p:nvSpPr>
        <p:spPr>
          <a:xfrm>
            <a:off x="841248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Imagem imutável</a:t>
            </a:r>
            <a:endParaRPr lang="en-US" sz="1500" dirty="0"/>
          </a:p>
        </p:txBody>
      </p:sp>
      <p:sp>
        <p:nvSpPr>
          <p:cNvPr id="15" name="logic-d-91"/>
          <p:cNvSpPr txBox="1"/>
          <p:nvPr/>
        </p:nvSpPr>
        <p:spPr>
          <a:xfrm>
            <a:off x="8412480" y="380390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mesma imagem :&lt;sha&gt; testada é a que vai para o ambiente</a:t>
            </a:r>
            <a:endParaRPr lang="en-US" sz="1200" dirty="0"/>
          </a:p>
        </p:txBody>
      </p:sp>
      <p:sp>
        <p:nvSpPr>
          <p:cNvPr id="16" name="icon-bg-92"/>
          <p:cNvSpPr/>
          <p:nvPr/>
        </p:nvSpPr>
        <p:spPr>
          <a:xfrm>
            <a:off x="7680960" y="4617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-9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661" y="4738421"/>
            <a:ext cx="307238" cy="307238"/>
          </a:xfrm>
          <a:prstGeom prst="rect">
            <a:avLst/>
          </a:prstGeom>
        </p:spPr>
      </p:pic>
      <p:sp>
        <p:nvSpPr>
          <p:cNvPr id="18" name="logic-t-94"/>
          <p:cNvSpPr txBox="1"/>
          <p:nvPr/>
        </p:nvSpPr>
        <p:spPr>
          <a:xfrm>
            <a:off x="8412480" y="4572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Config 12-factor</a:t>
            </a:r>
            <a:endParaRPr lang="en-US" sz="1500" dirty="0"/>
          </a:p>
        </p:txBody>
      </p:sp>
      <p:sp>
        <p:nvSpPr>
          <p:cNvPr id="19" name="logic-d-95"/>
          <p:cNvSpPr txBox="1"/>
          <p:nvPr/>
        </p:nvSpPr>
        <p:spPr>
          <a:xfrm>
            <a:off x="8412480" y="490118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connection string, JWT e flags nas App Settings do Azure, nunca no código</a:t>
            </a:r>
            <a:endParaRPr lang="en-US" sz="1200" dirty="0"/>
          </a:p>
        </p:txBody>
      </p:sp>
      <p:sp>
        <p:nvSpPr>
          <p:cNvPr id="20" name="logica-nota"/>
          <p:cNvSpPr txBox="1"/>
          <p:nvPr/>
        </p:nvSpPr>
        <p:spPr>
          <a:xfrm>
            <a:off x="548640" y="3794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Concorrência por branch evita dois deploys simultâneos no mesmo ambiente.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Docker: arquitetura com Compose</a:t>
            </a:r>
            <a:endParaRPr lang="en-US" sz="3200" dirty="0"/>
          </a:p>
        </p:txBody>
      </p:sp>
      <p:sp>
        <p:nvSpPr>
          <p:cNvPr id="3" name="rede"/>
          <p:cNvSpPr/>
          <p:nvPr/>
        </p:nvSpPr>
        <p:spPr>
          <a:xfrm>
            <a:off x="548640" y="1325880"/>
            <a:ext cx="694944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4" name="rede-label"/>
          <p:cNvSpPr txBox="1"/>
          <p:nvPr/>
        </p:nvSpPr>
        <p:spPr>
          <a:xfrm>
            <a:off x="7772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rede bridge: terrapulse-network</a:t>
            </a:r>
            <a:endParaRPr lang="en-US" sz="1200" dirty="0"/>
          </a:p>
        </p:txBody>
      </p:sp>
      <p:sp>
        <p:nvSpPr>
          <p:cNvPr id="5" name="card-96"/>
          <p:cNvSpPr/>
          <p:nvPr/>
        </p:nvSpPr>
        <p:spPr>
          <a:xfrm>
            <a:off x="868680" y="1920240"/>
            <a:ext cx="283464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icon-bg-97"/>
          <p:cNvSpPr/>
          <p:nvPr/>
        </p:nvSpPr>
        <p:spPr>
          <a:xfrm>
            <a:off x="1051560" y="2103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9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223821"/>
            <a:ext cx="307238" cy="307238"/>
          </a:xfrm>
          <a:prstGeom prst="rect">
            <a:avLst/>
          </a:prstGeom>
        </p:spPr>
      </p:pic>
      <p:sp>
        <p:nvSpPr>
          <p:cNvPr id="8" name="ctr-t-99"/>
          <p:cNvSpPr txBox="1"/>
          <p:nvPr/>
        </p:nvSpPr>
        <p:spPr>
          <a:xfrm>
            <a:off x="173736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terrapulse-api</a:t>
            </a:r>
            <a:endParaRPr lang="en-US" sz="1500" dirty="0"/>
          </a:p>
        </p:txBody>
      </p:sp>
      <p:sp>
        <p:nvSpPr>
          <p:cNvPr id="9" name="ctr-d-100"/>
          <p:cNvSpPr txBox="1"/>
          <p:nvPr/>
        </p:nvSpPr>
        <p:spPr>
          <a:xfrm>
            <a:off x="1051560" y="2788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imagem terrapulse-api (Dockerfile)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porta 8080 → host 8080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usuário não-root</a:t>
            </a:r>
            <a:endParaRPr lang="en-US" sz="1200" dirty="0"/>
          </a:p>
        </p:txBody>
      </p:sp>
      <p:sp>
        <p:nvSpPr>
          <p:cNvPr id="10" name="card-101"/>
          <p:cNvSpPr/>
          <p:nvPr/>
        </p:nvSpPr>
        <p:spPr>
          <a:xfrm>
            <a:off x="4343400" y="1920240"/>
            <a:ext cx="283464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icon-bg-102"/>
          <p:cNvSpPr/>
          <p:nvPr/>
        </p:nvSpPr>
        <p:spPr>
          <a:xfrm>
            <a:off x="4526280" y="21031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10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2223821"/>
            <a:ext cx="307238" cy="307238"/>
          </a:xfrm>
          <a:prstGeom prst="rect">
            <a:avLst/>
          </a:prstGeom>
        </p:spPr>
      </p:pic>
      <p:sp>
        <p:nvSpPr>
          <p:cNvPr id="13" name="ctr-t-104"/>
          <p:cNvSpPr txBox="1"/>
          <p:nvPr/>
        </p:nvSpPr>
        <p:spPr>
          <a:xfrm>
            <a:off x="521208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terrapulse-sqlserver</a:t>
            </a:r>
            <a:endParaRPr lang="en-US" sz="1500" dirty="0"/>
          </a:p>
        </p:txBody>
      </p:sp>
      <p:sp>
        <p:nvSpPr>
          <p:cNvPr id="14" name="ctr-d-105"/>
          <p:cNvSpPr txBox="1"/>
          <p:nvPr/>
        </p:nvSpPr>
        <p:spPr>
          <a:xfrm>
            <a:off x="4526280" y="2788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mssql/server:2022-latest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porta 1433 → host 14333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healthcheck sqlcmd</a:t>
            </a:r>
            <a:endParaRPr lang="en-US" sz="1200" dirty="0"/>
          </a:p>
        </p:txBody>
      </p:sp>
      <p:sp>
        <p:nvSpPr>
          <p:cNvPr id="15" name="arrow-106"/>
          <p:cNvSpPr/>
          <p:nvPr/>
        </p:nvSpPr>
        <p:spPr>
          <a:xfrm>
            <a:off x="3703320" y="2971800"/>
            <a:ext cx="64008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dep"/>
          <p:cNvSpPr txBox="1"/>
          <p:nvPr/>
        </p:nvSpPr>
        <p:spPr>
          <a:xfrm>
            <a:off x="3566160" y="2514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depends_on: healthy</a:t>
            </a:r>
            <a:endParaRPr lang="en-US" sz="900" dirty="0"/>
          </a:p>
        </p:txBody>
      </p:sp>
      <p:sp>
        <p:nvSpPr>
          <p:cNvPr id="17" name="card-107"/>
          <p:cNvSpPr/>
          <p:nvPr/>
        </p:nvSpPr>
        <p:spPr>
          <a:xfrm>
            <a:off x="4343400" y="4343400"/>
            <a:ext cx="28346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icon-bg-108"/>
          <p:cNvSpPr/>
          <p:nvPr/>
        </p:nvSpPr>
        <p:spPr>
          <a:xfrm>
            <a:off x="4480560" y="45262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con-10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261" y="4646981"/>
            <a:ext cx="307238" cy="307238"/>
          </a:xfrm>
          <a:prstGeom prst="rect">
            <a:avLst/>
          </a:prstGeom>
        </p:spPr>
      </p:pic>
      <p:sp>
        <p:nvSpPr>
          <p:cNvPr id="20" name="vol"/>
          <p:cNvSpPr txBox="1"/>
          <p:nvPr/>
        </p:nvSpPr>
        <p:spPr>
          <a:xfrm>
            <a:off x="5120640" y="4389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volume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terrapulse-sqlserver-data</a:t>
            </a:r>
            <a:endParaRPr lang="en-US" sz="1200" dirty="0"/>
          </a:p>
        </p:txBody>
      </p:sp>
      <p:sp>
        <p:nvSpPr>
          <p:cNvPr id="21" name="arrow-110"/>
          <p:cNvSpPr/>
          <p:nvPr/>
        </p:nvSpPr>
        <p:spPr>
          <a:xfrm>
            <a:off x="5760720" y="4023360"/>
            <a:ext cx="914" cy="32004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card-111"/>
          <p:cNvSpPr/>
          <p:nvPr/>
        </p:nvSpPr>
        <p:spPr>
          <a:xfrm>
            <a:off x="868680" y="4343400"/>
            <a:ext cx="28346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icon-bg-112"/>
          <p:cNvSpPr/>
          <p:nvPr/>
        </p:nvSpPr>
        <p:spPr>
          <a:xfrm>
            <a:off x="1005840" y="45262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con-1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1" y="4646981"/>
            <a:ext cx="307238" cy="307238"/>
          </a:xfrm>
          <a:prstGeom prst="rect">
            <a:avLst/>
          </a:prstGeom>
        </p:spPr>
      </p:pic>
      <p:sp>
        <p:nvSpPr>
          <p:cNvPr id="25" name="env"/>
          <p:cNvSpPr txBox="1"/>
          <p:nvPr/>
        </p:nvSpPr>
        <p:spPr>
          <a:xfrm>
            <a:off x="1645920" y="4389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.env (de .env.example)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senha do banco, JWT, portas</a:t>
            </a:r>
            <a:endParaRPr lang="en-US" sz="1200" dirty="0"/>
          </a:p>
        </p:txBody>
      </p:sp>
      <p:sp>
        <p:nvSpPr>
          <p:cNvPr id="26" name="arrow-114"/>
          <p:cNvSpPr/>
          <p:nvPr/>
        </p:nvSpPr>
        <p:spPr>
          <a:xfrm flipV="1">
            <a:off x="2286000" y="4023360"/>
            <a:ext cx="914" cy="32004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estr-t"/>
          <p:cNvSpPr txBox="1"/>
          <p:nvPr/>
        </p:nvSpPr>
        <p:spPr>
          <a:xfrm>
            <a:off x="790956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Estratégias do Dockerfile</a:t>
            </a:r>
            <a:endParaRPr lang="en-US" sz="1800" dirty="0"/>
          </a:p>
        </p:txBody>
      </p:sp>
      <p:sp>
        <p:nvSpPr>
          <p:cNvPr id="28" name="estr-lista"/>
          <p:cNvSpPr txBox="1"/>
          <p:nvPr/>
        </p:nvSpPr>
        <p:spPr>
          <a:xfrm>
            <a:off x="7909560" y="1783080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Multi-stage: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SDK só no build; runtime aspnet:8.0 na imagem final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Cache de camadas: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.csproj + restore antes do código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Não-root: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USER $APP_UID da imagem oficial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Rastreável: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ARG APP_VERSION = SHA do commit em /health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.dockerignore: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fora bin/, obj/, testes, docs e .env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Docker: comandos usados e imagem criada</a:t>
            </a:r>
            <a:endParaRPr lang="en-US" sz="3200" dirty="0"/>
          </a:p>
        </p:txBody>
      </p:sp>
      <p:sp>
        <p:nvSpPr>
          <p:cNvPr id="3" name="cmd-t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Execução local</a:t>
            </a:r>
            <a:endParaRPr lang="en-US" sz="1800" dirty="0"/>
          </a:p>
        </p:txBody>
      </p:sp>
      <p:sp>
        <p:nvSpPr>
          <p:cNvPr id="4" name="terminal"/>
          <p:cNvSpPr/>
          <p:nvPr/>
        </p:nvSpPr>
        <p:spPr>
          <a:xfrm>
            <a:off x="548640" y="1691640"/>
            <a:ext cx="5486400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rminal-txt"/>
          <p:cNvSpPr txBox="1"/>
          <p:nvPr/>
        </p:nvSpPr>
        <p:spPr>
          <a:xfrm>
            <a:off x="777240" y="1783080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copy .env.example .env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-d --build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ps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logs -f terrapulse-api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down        # mantém o volume</a:t>
            </a:r>
            <a:endParaRPr lang="en-US" sz="1400" dirty="0"/>
          </a:p>
        </p:txBody>
      </p:sp>
      <p:sp>
        <p:nvSpPr>
          <p:cNvPr id="6" name="cmd-t2"/>
          <p:cNvSpPr txBox="1"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pipeline</a:t>
            </a:r>
            <a:endParaRPr lang="en-US" sz="1800" dirty="0"/>
          </a:p>
        </p:txBody>
      </p:sp>
      <p:sp>
        <p:nvSpPr>
          <p:cNvPr id="7" name="cmd-pipeline"/>
          <p:cNvSpPr txBox="1"/>
          <p:nvPr/>
        </p:nvSpPr>
        <p:spPr>
          <a:xfrm>
            <a:off x="548640" y="44805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docker/setup-buildx-action + docker/login-action (GITHUB_TOKEN)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docker/build-push-action com build-arg APP_VERSION=${{ github.sha }}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cache-from/cache-to: type=gha</a:t>
            </a:r>
            <a:endParaRPr lang="en-US" sz="1300" dirty="0"/>
          </a:p>
        </p:txBody>
      </p:sp>
      <p:sp>
        <p:nvSpPr>
          <p:cNvPr id="8" name="img-t"/>
          <p:cNvSpPr txBox="1"/>
          <p:nvPr/>
        </p:nvSpPr>
        <p:spPr>
          <a:xfrm>
            <a:off x="658368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Imagem criada</a:t>
            </a:r>
            <a:endParaRPr lang="en-US" sz="1800" dirty="0"/>
          </a:p>
        </p:txBody>
      </p:sp>
      <p:sp>
        <p:nvSpPr>
          <p:cNvPr id="9" name="card-115"/>
          <p:cNvSpPr/>
          <p:nvPr/>
        </p:nvSpPr>
        <p:spPr>
          <a:xfrm>
            <a:off x="6583680" y="1691640"/>
            <a:ext cx="50749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mg-nome"/>
          <p:cNvSpPr txBox="1"/>
          <p:nvPr/>
        </p:nvSpPr>
        <p:spPr>
          <a:xfrm>
            <a:off x="6812280" y="1737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ghcr.io/herbds12/terrapulse-api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tags: c9af83bbb191…  ·  staging  ·  production</a:t>
            </a:r>
            <a:endParaRPr lang="en-US" sz="1400" dirty="0"/>
          </a:p>
        </p:txBody>
      </p:sp>
      <p:sp>
        <p:nvSpPr>
          <p:cNvPr id="11" name="stat-v-116"/>
          <p:cNvSpPr txBox="1"/>
          <p:nvPr/>
        </p:nvSpPr>
        <p:spPr>
          <a:xfrm>
            <a:off x="6583680" y="2880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~347 MB</a:t>
            </a:r>
            <a:endParaRPr lang="en-US" sz="3000" dirty="0"/>
          </a:p>
        </p:txBody>
      </p:sp>
      <p:sp>
        <p:nvSpPr>
          <p:cNvPr id="12" name="stat-l-117"/>
          <p:cNvSpPr txBox="1"/>
          <p:nvPr/>
        </p:nvSpPr>
        <p:spPr>
          <a:xfrm>
            <a:off x="658368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tamanho final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(runtime, sem SDK)</a:t>
            </a:r>
            <a:endParaRPr lang="en-US" sz="1200" dirty="0"/>
          </a:p>
        </p:txBody>
      </p:sp>
      <p:sp>
        <p:nvSpPr>
          <p:cNvPr id="13" name="stat-v-118"/>
          <p:cNvSpPr txBox="1"/>
          <p:nvPr/>
        </p:nvSpPr>
        <p:spPr>
          <a:xfrm>
            <a:off x="8321040" y="2880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36 s</a:t>
            </a:r>
            <a:endParaRPr lang="en-US" sz="3000" dirty="0"/>
          </a:p>
        </p:txBody>
      </p:sp>
      <p:sp>
        <p:nvSpPr>
          <p:cNvPr id="14" name="stat-l-119"/>
          <p:cNvSpPr txBox="1"/>
          <p:nvPr/>
        </p:nvSpPr>
        <p:spPr>
          <a:xfrm>
            <a:off x="832104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build local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 imagem</a:t>
            </a:r>
            <a:endParaRPr lang="en-US" sz="1200" dirty="0"/>
          </a:p>
        </p:txBody>
      </p:sp>
      <p:sp>
        <p:nvSpPr>
          <p:cNvPr id="15" name="stat-v-120"/>
          <p:cNvSpPr txBox="1"/>
          <p:nvPr/>
        </p:nvSpPr>
        <p:spPr>
          <a:xfrm>
            <a:off x="10058400" y="28803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16" name="stat-l-121"/>
          <p:cNvSpPr txBox="1"/>
          <p:nvPr/>
        </p:nvSpPr>
        <p:spPr>
          <a:xfrm>
            <a:off x="1005840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serviços 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Compose</a:t>
            </a:r>
            <a:endParaRPr lang="en-US" sz="1200" dirty="0"/>
          </a:p>
        </p:txBody>
      </p:sp>
      <p:sp>
        <p:nvSpPr>
          <p:cNvPr id="17" name="img-nota"/>
          <p:cNvSpPr txBox="1"/>
          <p:nvPr/>
        </p:nvSpPr>
        <p:spPr>
          <a:xfrm>
            <a:off x="6583680" y="44805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Uma única imagem roda em local, staging e produção; muda só a configuração (variáveis de ambiente).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Evidências de execução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Docker local, pipeline rodando, staging e produção funcionando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Execução local com Docker Compose</a:t>
            </a:r>
            <a:endParaRPr lang="en-US" sz="3200" dirty="0"/>
          </a:p>
        </p:txBody>
      </p:sp>
      <p:sp>
        <p:nvSpPr>
          <p:cNvPr id="3" name="frame-122"/>
          <p:cNvSpPr/>
          <p:nvPr/>
        </p:nvSpPr>
        <p:spPr>
          <a:xfrm>
            <a:off x="512064" y="1265457"/>
            <a:ext cx="5193792" cy="290976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4" name="print-123" descr="00-docker-bu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2033"/>
            <a:ext cx="5120640" cy="2836614"/>
          </a:xfrm>
          <a:prstGeom prst="rect">
            <a:avLst/>
          </a:prstGeom>
        </p:spPr>
      </p:pic>
      <p:sp>
        <p:nvSpPr>
          <p:cNvPr id="5" name="caption-124"/>
          <p:cNvSpPr txBox="1"/>
          <p:nvPr/>
        </p:nvSpPr>
        <p:spPr>
          <a:xfrm>
            <a:off x="548640" y="4248375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Build multi-stage concluído; rede, volume e containers criados (banco healthy)</a:t>
            </a:r>
            <a:endParaRPr lang="en-US" sz="1200" dirty="0"/>
          </a:p>
        </p:txBody>
      </p:sp>
      <p:sp>
        <p:nvSpPr>
          <p:cNvPr id="6" name="frame-125"/>
          <p:cNvSpPr/>
          <p:nvPr/>
        </p:nvSpPr>
        <p:spPr>
          <a:xfrm>
            <a:off x="512064" y="4607980"/>
            <a:ext cx="5193792" cy="79672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7" name="print-126" descr="01-docker-compose-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44556"/>
            <a:ext cx="5120640" cy="723569"/>
          </a:xfrm>
          <a:prstGeom prst="rect">
            <a:avLst/>
          </a:prstGeom>
        </p:spPr>
      </p:pic>
      <p:sp>
        <p:nvSpPr>
          <p:cNvPr id="8" name="caption-127"/>
          <p:cNvSpPr txBox="1"/>
          <p:nvPr/>
        </p:nvSpPr>
        <p:spPr>
          <a:xfrm>
            <a:off x="548640" y="54778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docker compose ps: API na 8080 e SQL Server na 14333</a:t>
            </a:r>
            <a:endParaRPr lang="en-US" sz="1200" dirty="0"/>
          </a:p>
        </p:txBody>
      </p:sp>
      <p:sp>
        <p:nvSpPr>
          <p:cNvPr id="9" name="frame-128"/>
          <p:cNvSpPr/>
          <p:nvPr/>
        </p:nvSpPr>
        <p:spPr>
          <a:xfrm>
            <a:off x="6196523" y="1243584"/>
            <a:ext cx="5300593" cy="327355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10" name="print-129" descr="02-swagger-loc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99" y="1280160"/>
            <a:ext cx="5227441" cy="3200400"/>
          </a:xfrm>
          <a:prstGeom prst="rect">
            <a:avLst/>
          </a:prstGeom>
        </p:spPr>
      </p:pic>
      <p:sp>
        <p:nvSpPr>
          <p:cNvPr id="11" name="caption-130"/>
          <p:cNvSpPr txBox="1"/>
          <p:nvPr/>
        </p:nvSpPr>
        <p:spPr>
          <a:xfrm>
            <a:off x="6035040" y="459028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Swagger local: GET autenticado (JWT) retornando 200</a:t>
            </a:r>
            <a:endParaRPr lang="en-US" sz="1200" dirty="0"/>
          </a:p>
        </p:txBody>
      </p:sp>
      <p:sp>
        <p:nvSpPr>
          <p:cNvPr id="12" name="frame-131"/>
          <p:cNvSpPr/>
          <p:nvPr/>
        </p:nvSpPr>
        <p:spPr>
          <a:xfrm>
            <a:off x="6022022" y="5038344"/>
            <a:ext cx="2403476" cy="107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13" name="print-132" descr="02a-health-loc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598" y="5074920"/>
            <a:ext cx="2330324" cy="1005840"/>
          </a:xfrm>
          <a:prstGeom prst="rect">
            <a:avLst/>
          </a:prstGeom>
        </p:spPr>
      </p:pic>
      <p:sp>
        <p:nvSpPr>
          <p:cNvPr id="14" name="cap-health-local"/>
          <p:cNvSpPr txBox="1"/>
          <p:nvPr/>
        </p:nvSpPr>
        <p:spPr>
          <a:xfrm>
            <a:off x="8595360" y="5303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/health local: Healthy, banco Connected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em develop: build, testes e deploy em staging</a:t>
            </a:r>
            <a:endParaRPr lang="en-US" sz="3200" dirty="0"/>
          </a:p>
        </p:txBody>
      </p:sp>
      <p:sp>
        <p:nvSpPr>
          <p:cNvPr id="3" name="frame-133"/>
          <p:cNvSpPr/>
          <p:nvPr/>
        </p:nvSpPr>
        <p:spPr>
          <a:xfrm>
            <a:off x="512064" y="1759353"/>
            <a:ext cx="8211312" cy="379649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4" name="print-134" descr="03-pipeline-devel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95929"/>
            <a:ext cx="8138160" cy="3723341"/>
          </a:xfrm>
          <a:prstGeom prst="rect">
            <a:avLst/>
          </a:prstGeom>
        </p:spPr>
      </p:pic>
      <p:sp>
        <p:nvSpPr>
          <p:cNvPr id="5" name="evid-txt-135"/>
          <p:cNvSpPr txBox="1"/>
          <p:nvPr/>
        </p:nvSpPr>
        <p:spPr>
          <a:xfrm>
            <a:off x="9006840" y="1325880"/>
            <a:ext cx="26517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Disparado pelo push na branch develop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23 s · Testes 58 s · Imagem 1 min 37 s · Deploy Staging 1 min 22 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Total: 4 min 32 s, status Success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Deploy Produção ignorado: só roda na main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Testes automatizados e imagem publicada</a:t>
            </a:r>
            <a:endParaRPr lang="en-US" sz="3200" dirty="0"/>
          </a:p>
        </p:txBody>
      </p:sp>
      <p:sp>
        <p:nvSpPr>
          <p:cNvPr id="3" name="frame-136"/>
          <p:cNvSpPr/>
          <p:nvPr/>
        </p:nvSpPr>
        <p:spPr>
          <a:xfrm>
            <a:off x="512064" y="2809494"/>
            <a:ext cx="5445252" cy="13761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4" name="print-137" descr="04-tes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46070"/>
            <a:ext cx="5372100" cy="1303020"/>
          </a:xfrm>
          <a:prstGeom prst="rect">
            <a:avLst/>
          </a:prstGeom>
        </p:spPr>
      </p:pic>
      <p:sp>
        <p:nvSpPr>
          <p:cNvPr id="5" name="frame-138"/>
          <p:cNvSpPr/>
          <p:nvPr/>
        </p:nvSpPr>
        <p:spPr>
          <a:xfrm>
            <a:off x="6204204" y="2097934"/>
            <a:ext cx="5445252" cy="279929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6" name="print-139" descr="05-ghcr-imag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80" y="2134510"/>
            <a:ext cx="5372100" cy="2726140"/>
          </a:xfrm>
          <a:prstGeom prst="rect">
            <a:avLst/>
          </a:prstGeom>
        </p:spPr>
      </p:pic>
      <p:sp>
        <p:nvSpPr>
          <p:cNvPr id="7" name="caption-140"/>
          <p:cNvSpPr txBox="1"/>
          <p:nvPr/>
        </p:nvSpPr>
        <p:spPr>
          <a:xfrm>
            <a:off x="548640" y="4997810"/>
            <a:ext cx="537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Resumo do job de testes: 6 testes, 6 aprovados, 0 falhas</a:t>
            </a:r>
            <a:endParaRPr lang="en-US" sz="1200" dirty="0"/>
          </a:p>
        </p:txBody>
      </p:sp>
      <p:sp>
        <p:nvSpPr>
          <p:cNvPr id="8" name="caption-141"/>
          <p:cNvSpPr txBox="1"/>
          <p:nvPr/>
        </p:nvSpPr>
        <p:spPr>
          <a:xfrm>
            <a:off x="6240780" y="4997810"/>
            <a:ext cx="537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GHCR: tags staging e SHA c9af83b…, pacote público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Staging funcionando no Azure</a:t>
            </a:r>
            <a:endParaRPr lang="en-US" sz="3200" dirty="0"/>
          </a:p>
        </p:txBody>
      </p:sp>
      <p:sp>
        <p:nvSpPr>
          <p:cNvPr id="3" name="frame-142"/>
          <p:cNvSpPr/>
          <p:nvPr/>
        </p:nvSpPr>
        <p:spPr>
          <a:xfrm>
            <a:off x="512064" y="2592372"/>
            <a:ext cx="3896258" cy="181041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4" name="print-143" descr="06-staging-heal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28948"/>
            <a:ext cx="3823106" cy="1737265"/>
          </a:xfrm>
          <a:prstGeom prst="rect">
            <a:avLst/>
          </a:prstGeom>
        </p:spPr>
      </p:pic>
      <p:sp>
        <p:nvSpPr>
          <p:cNvPr id="5" name="frame-144"/>
          <p:cNvSpPr/>
          <p:nvPr/>
        </p:nvSpPr>
        <p:spPr>
          <a:xfrm>
            <a:off x="4655210" y="1886566"/>
            <a:ext cx="6994246" cy="32220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6" name="print-145" descr="07-staging-swag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786" y="1923142"/>
            <a:ext cx="6921094" cy="3148876"/>
          </a:xfrm>
          <a:prstGeom prst="rect">
            <a:avLst/>
          </a:prstGeom>
        </p:spPr>
      </p:pic>
      <p:sp>
        <p:nvSpPr>
          <p:cNvPr id="7" name="caption-146"/>
          <p:cNvSpPr txBox="1"/>
          <p:nvPr/>
        </p:nvSpPr>
        <p:spPr>
          <a:xfrm>
            <a:off x="548640" y="5209178"/>
            <a:ext cx="3823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/health: environment Staging, version = SHA do commit, banco conectado</a:t>
            </a:r>
            <a:endParaRPr lang="en-US" sz="1200" dirty="0"/>
          </a:p>
        </p:txBody>
      </p:sp>
      <p:sp>
        <p:nvSpPr>
          <p:cNvPr id="8" name="caption-147"/>
          <p:cNvSpPr txBox="1"/>
          <p:nvPr/>
        </p:nvSpPr>
        <p:spPr>
          <a:xfrm>
            <a:off x="4691786" y="5209178"/>
            <a:ext cx="69210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Swagger em staging: POST /api/auth/login retornando 200 com JWT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Produção: aprovação manual e deploy</a:t>
            </a:r>
            <a:endParaRPr lang="en-US" sz="3200" dirty="0"/>
          </a:p>
        </p:txBody>
      </p:sp>
      <p:sp>
        <p:nvSpPr>
          <p:cNvPr id="3" name="frame-148"/>
          <p:cNvSpPr/>
          <p:nvPr/>
        </p:nvSpPr>
        <p:spPr>
          <a:xfrm>
            <a:off x="512064" y="2460319"/>
            <a:ext cx="5445252" cy="207452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4" name="print-149" descr="08-aprovacao-produ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96895"/>
            <a:ext cx="5372100" cy="2001371"/>
          </a:xfrm>
          <a:prstGeom prst="rect">
            <a:avLst/>
          </a:prstGeom>
        </p:spPr>
      </p:pic>
      <p:sp>
        <p:nvSpPr>
          <p:cNvPr id="5" name="frame-150"/>
          <p:cNvSpPr/>
          <p:nvPr/>
        </p:nvSpPr>
        <p:spPr>
          <a:xfrm>
            <a:off x="6204204" y="2425207"/>
            <a:ext cx="5445252" cy="214474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6" name="print-151" descr="09-pipeline-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80" y="2461783"/>
            <a:ext cx="5372100" cy="2071594"/>
          </a:xfrm>
          <a:prstGeom prst="rect">
            <a:avLst/>
          </a:prstGeom>
        </p:spPr>
      </p:pic>
      <p:sp>
        <p:nvSpPr>
          <p:cNvPr id="7" name="caption-152"/>
          <p:cNvSpPr txBox="1"/>
          <p:nvPr/>
        </p:nvSpPr>
        <p:spPr>
          <a:xfrm>
            <a:off x="548640" y="4670537"/>
            <a:ext cx="537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Pipeline aguardando revisão do environment production</a:t>
            </a:r>
            <a:endParaRPr lang="en-US" sz="1200" dirty="0"/>
          </a:p>
        </p:txBody>
      </p:sp>
      <p:sp>
        <p:nvSpPr>
          <p:cNvPr id="8" name="caption-153"/>
          <p:cNvSpPr txBox="1"/>
          <p:nvPr/>
        </p:nvSpPr>
        <p:spPr>
          <a:xfrm>
            <a:off x="6240780" y="4670537"/>
            <a:ext cx="537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Após aprovação: Deploy Produção concluído (total 3 min 45 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Produção funcionando no Azure</a:t>
            </a:r>
            <a:endParaRPr lang="en-US" sz="3200" dirty="0"/>
          </a:p>
        </p:txBody>
      </p:sp>
      <p:sp>
        <p:nvSpPr>
          <p:cNvPr id="3" name="frame-154"/>
          <p:cNvSpPr/>
          <p:nvPr/>
        </p:nvSpPr>
        <p:spPr>
          <a:xfrm>
            <a:off x="512064" y="2677425"/>
            <a:ext cx="3896258" cy="16403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4" name="print-155" descr="10-producao-heal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14001"/>
            <a:ext cx="3823106" cy="1567158"/>
          </a:xfrm>
          <a:prstGeom prst="rect">
            <a:avLst/>
          </a:prstGeom>
        </p:spPr>
      </p:pic>
      <p:sp>
        <p:nvSpPr>
          <p:cNvPr id="5" name="frame-156"/>
          <p:cNvSpPr/>
          <p:nvPr/>
        </p:nvSpPr>
        <p:spPr>
          <a:xfrm>
            <a:off x="4655210" y="1868182"/>
            <a:ext cx="6994246" cy="325879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6" name="print-157" descr="11-producao-swag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786" y="1904758"/>
            <a:ext cx="6921094" cy="3185644"/>
          </a:xfrm>
          <a:prstGeom prst="rect">
            <a:avLst/>
          </a:prstGeom>
        </p:spPr>
      </p:pic>
      <p:sp>
        <p:nvSpPr>
          <p:cNvPr id="7" name="caption-158"/>
          <p:cNvSpPr txBox="1"/>
          <p:nvPr/>
        </p:nvSpPr>
        <p:spPr>
          <a:xfrm>
            <a:off x="548640" y="5227562"/>
            <a:ext cx="3823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/health: environment Production, mesmo SHA testado em staging</a:t>
            </a:r>
            <a:endParaRPr lang="en-US" sz="1200" dirty="0"/>
          </a:p>
        </p:txBody>
      </p:sp>
      <p:sp>
        <p:nvSpPr>
          <p:cNvPr id="8" name="caption-159"/>
          <p:cNvSpPr txBox="1"/>
          <p:nvPr/>
        </p:nvSpPr>
        <p:spPr>
          <a:xfrm>
            <a:off x="4691786" y="5227562"/>
            <a:ext cx="69210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Swagger em produção: login retornando 200 com JWT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Infraestrutura e configuração</a:t>
            </a:r>
            <a:endParaRPr lang="en-US" sz="3200" dirty="0"/>
          </a:p>
        </p:txBody>
      </p:sp>
      <p:sp>
        <p:nvSpPr>
          <p:cNvPr id="3" name="frame-160"/>
          <p:cNvSpPr/>
          <p:nvPr/>
        </p:nvSpPr>
        <p:spPr>
          <a:xfrm>
            <a:off x="512064" y="1543149"/>
            <a:ext cx="5998464" cy="390886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4" name="print-161" descr="12-azure-recur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9725"/>
            <a:ext cx="5925312" cy="3835709"/>
          </a:xfrm>
          <a:prstGeom prst="rect">
            <a:avLst/>
          </a:prstGeom>
        </p:spPr>
      </p:pic>
      <p:sp>
        <p:nvSpPr>
          <p:cNvPr id="5" name="frame-162"/>
          <p:cNvSpPr/>
          <p:nvPr/>
        </p:nvSpPr>
        <p:spPr>
          <a:xfrm>
            <a:off x="6757416" y="2839621"/>
            <a:ext cx="4892040" cy="131591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4">
                <a:alpha val="18000"/>
              </a:srgbClr>
            </a:outerShdw>
          </a:effectLst>
        </p:spPr>
      </p:sp>
      <p:pic>
        <p:nvPicPr>
          <p:cNvPr id="6" name="print-163" descr="13-github-environ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876197"/>
            <a:ext cx="4818888" cy="1242766"/>
          </a:xfrm>
          <a:prstGeom prst="rect">
            <a:avLst/>
          </a:prstGeom>
        </p:spPr>
      </p:pic>
      <p:sp>
        <p:nvSpPr>
          <p:cNvPr id="7" name="caption-164"/>
          <p:cNvSpPr txBox="1"/>
          <p:nvPr/>
        </p:nvSpPr>
        <p:spPr>
          <a:xfrm>
            <a:off x="548640" y="5552595"/>
            <a:ext cx="5925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Resource group no Azure: plano B1, 2 Web Apps, SQL Server e 2 bancos (Chile Central)</a:t>
            </a:r>
            <a:endParaRPr lang="en-US" sz="1200" dirty="0"/>
          </a:p>
        </p:txBody>
      </p:sp>
      <p:sp>
        <p:nvSpPr>
          <p:cNvPr id="8" name="caption-165"/>
          <p:cNvSpPr txBox="1"/>
          <p:nvPr/>
        </p:nvSpPr>
        <p:spPr>
          <a:xfrm>
            <a:off x="6793992" y="5552595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GitHub Environments: production com regra de proteção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Desafios encontrados e como foram resolvidos</a:t>
            </a:r>
            <a:endParaRPr lang="en-US" sz="3200" dirty="0"/>
          </a:p>
        </p:txBody>
      </p:sp>
      <p:sp>
        <p:nvSpPr>
          <p:cNvPr id="3" name="card-166"/>
          <p:cNvSpPr/>
          <p:nvPr/>
        </p:nvSpPr>
        <p:spPr>
          <a:xfrm>
            <a:off x="548640" y="123444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167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6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63624"/>
            <a:ext cx="256032" cy="256032"/>
          </a:xfrm>
          <a:prstGeom prst="rect">
            <a:avLst/>
          </a:prstGeom>
        </p:spPr>
      </p:pic>
      <p:sp>
        <p:nvSpPr>
          <p:cNvPr id="6" name="ch-p-169"/>
          <p:cNvSpPr txBox="1"/>
          <p:nvPr/>
        </p:nvSpPr>
        <p:spPr>
          <a:xfrm>
            <a:off x="1325880" y="13716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Testes dependiam de SQL Server LocalDB</a:t>
            </a:r>
            <a:endParaRPr lang="en-US" sz="1400" dirty="0"/>
          </a:p>
        </p:txBody>
      </p:sp>
      <p:sp>
        <p:nvSpPr>
          <p:cNvPr id="7" name="ch-r-170"/>
          <p:cNvSpPr txBox="1"/>
          <p:nvPr/>
        </p:nvSpPr>
        <p:spPr>
          <a:xfrm>
            <a:off x="1325880" y="18013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SQL Server 2022 como service container no CI; migrations por variável; paralelismo do xUnit desligado</a:t>
            </a:r>
            <a:endParaRPr lang="en-US" sz="1200" dirty="0"/>
          </a:p>
        </p:txBody>
      </p:sp>
      <p:sp>
        <p:nvSpPr>
          <p:cNvPr id="8" name="card-171"/>
          <p:cNvSpPr/>
          <p:nvPr/>
        </p:nvSpPr>
        <p:spPr>
          <a:xfrm>
            <a:off x="6172200" y="123444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172"/>
          <p:cNvSpPr/>
          <p:nvPr/>
        </p:nvSpPr>
        <p:spPr>
          <a:xfrm>
            <a:off x="635508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17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563624"/>
            <a:ext cx="256032" cy="256032"/>
          </a:xfrm>
          <a:prstGeom prst="rect">
            <a:avLst/>
          </a:prstGeom>
        </p:spPr>
      </p:pic>
      <p:sp>
        <p:nvSpPr>
          <p:cNvPr id="11" name="ch-p-174"/>
          <p:cNvSpPr txBox="1"/>
          <p:nvPr/>
        </p:nvSpPr>
        <p:spPr>
          <a:xfrm>
            <a:off x="6949440" y="13716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Região bloqueada na conta de estudante</a:t>
            </a:r>
            <a:endParaRPr lang="en-US" sz="1400" dirty="0"/>
          </a:p>
        </p:txBody>
      </p:sp>
      <p:sp>
        <p:nvSpPr>
          <p:cNvPr id="12" name="ch-r-175"/>
          <p:cNvSpPr txBox="1"/>
          <p:nvPr/>
        </p:nvSpPr>
        <p:spPr>
          <a:xfrm>
            <a:off x="6949440" y="18013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Policy consultada com az policy assignment list; uso da região permitida Chile Central</a:t>
            </a:r>
            <a:endParaRPr lang="en-US" sz="1200" dirty="0"/>
          </a:p>
        </p:txBody>
      </p:sp>
      <p:sp>
        <p:nvSpPr>
          <p:cNvPr id="13" name="card-176"/>
          <p:cNvSpPr/>
          <p:nvPr/>
        </p:nvSpPr>
        <p:spPr>
          <a:xfrm>
            <a:off x="548640" y="274320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177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17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072384"/>
            <a:ext cx="256032" cy="256032"/>
          </a:xfrm>
          <a:prstGeom prst="rect">
            <a:avLst/>
          </a:prstGeom>
        </p:spPr>
      </p:pic>
      <p:sp>
        <p:nvSpPr>
          <p:cNvPr id="16" name="ch-p-179"/>
          <p:cNvSpPr txBox="1"/>
          <p:nvPr/>
        </p:nvSpPr>
        <p:spPr>
          <a:xfrm>
            <a:off x="1325880" y="2880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Oferta gratuita do Azure SQL indisponível</a:t>
            </a:r>
            <a:endParaRPr lang="en-US" sz="1400" dirty="0"/>
          </a:p>
        </p:txBody>
      </p:sp>
      <p:sp>
        <p:nvSpPr>
          <p:cNvPr id="17" name="ch-r-180"/>
          <p:cNvSpPr txBox="1"/>
          <p:nvPr/>
        </p:nvSpPr>
        <p:spPr>
          <a:xfrm>
            <a:off x="1325880" y="331012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Script com fallback para o tier Basic e execução idempotente (pode rodar de novo)</a:t>
            </a:r>
            <a:endParaRPr lang="en-US" sz="1200" dirty="0"/>
          </a:p>
        </p:txBody>
      </p:sp>
      <p:sp>
        <p:nvSpPr>
          <p:cNvPr id="18" name="card-181"/>
          <p:cNvSpPr/>
          <p:nvPr/>
        </p:nvSpPr>
        <p:spPr>
          <a:xfrm>
            <a:off x="6172200" y="274320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182"/>
          <p:cNvSpPr/>
          <p:nvPr/>
        </p:nvSpPr>
        <p:spPr>
          <a:xfrm>
            <a:off x="6355080" y="2971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18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072384"/>
            <a:ext cx="256032" cy="256032"/>
          </a:xfrm>
          <a:prstGeom prst="rect">
            <a:avLst/>
          </a:prstGeom>
        </p:spPr>
      </p:pic>
      <p:sp>
        <p:nvSpPr>
          <p:cNvPr id="21" name="ch-p-184"/>
          <p:cNvSpPr txBox="1"/>
          <p:nvPr/>
        </p:nvSpPr>
        <p:spPr>
          <a:xfrm>
            <a:off x="6949440" y="2880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Branch main nova não disparou o workflow</a:t>
            </a:r>
            <a:endParaRPr lang="en-US" sz="1400" dirty="0"/>
          </a:p>
        </p:txBody>
      </p:sp>
      <p:sp>
        <p:nvSpPr>
          <p:cNvPr id="22" name="ch-r-185"/>
          <p:cNvSpPr txBox="1"/>
          <p:nvPr/>
        </p:nvSpPr>
        <p:spPr>
          <a:xfrm>
            <a:off x="6949440" y="331012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Filtro paths-ignore sem diff; disparo manual com workflow_dispatch na main</a:t>
            </a:r>
            <a:endParaRPr lang="en-US" sz="1200" dirty="0"/>
          </a:p>
        </p:txBody>
      </p:sp>
      <p:sp>
        <p:nvSpPr>
          <p:cNvPr id="23" name="card-186"/>
          <p:cNvSpPr/>
          <p:nvPr/>
        </p:nvSpPr>
        <p:spPr>
          <a:xfrm>
            <a:off x="548640" y="425196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-bg-187"/>
          <p:cNvSpPr/>
          <p:nvPr/>
        </p:nvSpPr>
        <p:spPr>
          <a:xfrm>
            <a:off x="731520" y="4480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-18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581144"/>
            <a:ext cx="256032" cy="256032"/>
          </a:xfrm>
          <a:prstGeom prst="rect">
            <a:avLst/>
          </a:prstGeom>
        </p:spPr>
      </p:pic>
      <p:sp>
        <p:nvSpPr>
          <p:cNvPr id="26" name="ch-p-189"/>
          <p:cNvSpPr txBox="1"/>
          <p:nvPr/>
        </p:nvSpPr>
        <p:spPr>
          <a:xfrm>
            <a:off x="1325880" y="43891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Como provar que a versão nova subiu?</a:t>
            </a:r>
            <a:endParaRPr lang="en-US" sz="1400" dirty="0"/>
          </a:p>
        </p:txBody>
      </p:sp>
      <p:sp>
        <p:nvSpPr>
          <p:cNvPr id="27" name="ch-r-190"/>
          <p:cNvSpPr txBox="1"/>
          <p:nvPr/>
        </p:nvSpPr>
        <p:spPr>
          <a:xfrm>
            <a:off x="1325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Endpoint /health com SHA do commit e smoke test que só passa com o SHA esperado</a:t>
            </a:r>
            <a:endParaRPr lang="en-US" sz="1200" dirty="0"/>
          </a:p>
        </p:txBody>
      </p:sp>
      <p:sp>
        <p:nvSpPr>
          <p:cNvPr id="28" name="card-191"/>
          <p:cNvSpPr/>
          <p:nvPr/>
        </p:nvSpPr>
        <p:spPr>
          <a:xfrm>
            <a:off x="6172200" y="425196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-bg-192"/>
          <p:cNvSpPr/>
          <p:nvPr/>
        </p:nvSpPr>
        <p:spPr>
          <a:xfrm>
            <a:off x="6355080" y="4480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-19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4581144"/>
            <a:ext cx="256032" cy="256032"/>
          </a:xfrm>
          <a:prstGeom prst="rect">
            <a:avLst/>
          </a:prstGeom>
        </p:spPr>
      </p:pic>
      <p:sp>
        <p:nvSpPr>
          <p:cNvPr id="31" name="ch-p-194"/>
          <p:cNvSpPr txBox="1"/>
          <p:nvPr/>
        </p:nvSpPr>
        <p:spPr>
          <a:xfrm>
            <a:off x="6949440" y="43891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Azure precisa baixar a imagem</a:t>
            </a:r>
            <a:endParaRPr lang="en-US" sz="1400" dirty="0"/>
          </a:p>
        </p:txBody>
      </p:sp>
      <p:sp>
        <p:nvSpPr>
          <p:cNvPr id="32" name="ch-r-195"/>
          <p:cNvSpPr txBox="1"/>
          <p:nvPr/>
        </p:nvSpPr>
        <p:spPr>
          <a:xfrm>
            <a:off x="694944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Repositório público, então o pacote do GHCR ficou público; sem credencial extra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Checklist de entrega</a:t>
            </a:r>
            <a:endParaRPr lang="en-US" sz="3200" dirty="0"/>
          </a:p>
        </p:txBody>
      </p:sp>
      <p:graphicFrame>
        <p:nvGraphicFramePr>
          <p:cNvPr id="17" name="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9144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OK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Projeto compactado em .ZIP com estrutura organizada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Dockerfile funcional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docker-compose.yml ou arquivos Kubernetes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Pipeline com etapas de build, teste e deploy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README.md com instruções e prints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Documentação técnica com evidências (PDF ou PPT)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Deploy realizado nos ambientes staging e produção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B9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links"/>
          <p:cNvSpPr txBox="1"/>
          <p:nvPr/>
        </p:nvSpPr>
        <p:spPr>
          <a:xfrm>
            <a:off x="8778240" y="1325880"/>
            <a:ext cx="2926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Links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Repositório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github.com/herbds12/terrapulse-devops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Staging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terrapulse-stg-rm565128.azurewebsites.net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Produção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terrapulse-prd-rm565128.azurewebsites.net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raPulse DevOps">
  <a:themeElements>
    <a:clrScheme name="TerraPulse DevOps">
      <a:dk1>
        <a:srgbClr val="1B2A24"/>
      </a:dk1>
      <a:lt1>
        <a:srgbClr val="FFFFFF"/>
      </a:lt1>
      <a:dk2>
        <a:srgbClr val="14352A"/>
      </a:dk2>
      <a:lt2>
        <a:srgbClr val="EEF4EF"/>
      </a:lt2>
      <a:accent1>
        <a:srgbClr val="2E7D4F"/>
      </a:accent1>
      <a:accent2>
        <a:srgbClr val="E89A2C"/>
      </a:accent2>
      <a:accent3>
        <a:srgbClr val="2F6DB0"/>
      </a:accent3>
      <a:accent4>
        <a:srgbClr val="8FB996"/>
      </a:accent4>
      <a:accent5>
        <a:srgbClr val="5C6B64"/>
      </a:accent5>
      <a:accent6>
        <a:srgbClr val="B23A2E"/>
      </a:accent6>
      <a:hlink>
        <a:srgbClr val="2F6DB0"/>
      </a:hlink>
      <a:folHlink>
        <a:srgbClr val="5C6B64"/>
      </a:folHlink>
    </a:clrScheme>
    <a:fontScheme name="TerraPulse DevOp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TerraPulse - Desafio DevOps</dc:title>
  <dc:subject>Documentação técnica - CI/CD, Docker, Azure</dc:subject>
  <dc:creator>Herbert Dias de Souza</dc:creator>
  <cp:lastModifiedBy>Herbert Dias de Souza</cp:lastModifiedBy>
  <cp:revision>1</cp:revision>
  <dcterms:created xsi:type="dcterms:W3CDTF">2026-10-13T12:45:14Z</dcterms:created>
  <dcterms:modified xsi:type="dcterms:W3CDTF">2026-10-13T12:45:14Z</dcterms:modified>
</cp:coreProperties>
</file>